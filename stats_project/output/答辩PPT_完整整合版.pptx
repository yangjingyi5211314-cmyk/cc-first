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各位老师好！我是XXX。我的项目主题是“买断制独立游戏销量的统计分布特征与参数估计”。</a:t>
            </a:r>
          </a:p>
          <a:p>
            <a:r>
              <a:t>核心亮点是：不仅用模拟数据验证了统计方法，还用GitHub上下载的真实Steam数据集进行了双重验证。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首先介绍研究背景。独立游戏市场有两个极端：少数爆款销量百万，大量作品无人问津。</a:t>
            </a:r>
          </a:p>
          <a:p>
            <a:r>
              <a:t>我提出三个问题：销量服从什么分布？怎么用MLE估计？定价影响口碑吗？</a:t>
            </a:r>
          </a:p>
          <a:p>
            <a:r>
              <a:t>为了增强可信度，我设计了双重验证：先用模拟数据验证方法论，再用真实数据验证结论。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这些方法不是凭空想的。</a:t>
            </a:r>
          </a:p>
          <a:p>
            <a:r>
              <a:t>第一，课程作业系统覆盖了描述统计、MLE、Bootstrap、回归，为本项目提供了方法论框架。</a:t>
            </a:r>
          </a:p>
          <a:p>
            <a:r>
              <a:t>第二，Casella和Berger的《统计推断》给了我选择MLE的理论依据。</a:t>
            </a:r>
          </a:p>
          <a:p>
            <a:r>
              <a:t>第三，我观察SteamSpy上的真实数据，发现评论数严重右偏，对数变换后接近正态，这才想到对数正态分布。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这是本项目的完整技术路线图。</a:t>
            </a:r>
          </a:p>
          <a:p>
            <a:r>
              <a:t>从左到右：数据获取→描述统计→MLE参数估计→K-S检验→Q-Q图→Bootstrap区间→回归分析→得出结论。</a:t>
            </a:r>
          </a:p>
          <a:p>
            <a:r>
              <a:t>每一步都有明确的方法论支撑，形成闭环。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这是第一步：描述统计。</a:t>
            </a:r>
          </a:p>
          <a:p>
            <a:r>
              <a:t>我为什么要先算描述统计？因为著名统计学家Tukey说过，建模之前要先让数据说话。</a:t>
            </a:r>
          </a:p>
          <a:p>
            <a:r>
              <a:t>结果显示均值远大于中位数，偏度接近4，说明严重右偏。但对数变换后接近钟形，这就给了我们一个关键提示：可能服从对数正态分布。</a:t>
            </a:r>
          </a:p>
          <a:p>
            <a:r>
              <a:t>右侧是Python核心代码，用numpy和scipy计算统计量。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第二步是MLE最大似然估计。</a:t>
            </a:r>
          </a:p>
          <a:p>
            <a:r>
              <a:t>我假设评论数服从对数正态分布，因为销量的增长通常是口碑传播、媒体报道等多因素乘积驱动的。</a:t>
            </a:r>
          </a:p>
          <a:p>
            <a:r>
              <a:t>MLE的解析解很简单：μ̂就是样本对数的均值，σ̂就是样本对数的标准差。</a:t>
            </a:r>
          </a:p>
          <a:p>
            <a:r>
              <a:t>右图显示红色的对数正态曲线与直方图贴合很好，明显优于绿色的伽马分布。</a:t>
            </a:r>
          </a:p>
          <a:p>
            <a:r>
              <a:t>左侧是对应的Python代码。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第三步是假设检验。MLE只是估计了参数，但拟合得好不好需要定量验证。</a:t>
            </a:r>
          </a:p>
          <a:p>
            <a:r>
              <a:t>我用了两个方法：K-S检验和Q-Q图。</a:t>
            </a:r>
          </a:p>
          <a:p>
            <a:r>
              <a:t>K-S检验的p值是0.7483，远大于0.05，说明不能拒绝原假设，拟合良好。</a:t>
            </a:r>
          </a:p>
          <a:p>
            <a:r>
              <a:t>Q-Q图上数据点基本落在45度线上，从图形角度也验证了假设的合理性。</a:t>
            </a:r>
          </a:p>
          <a:p>
            <a:r>
              <a:t>左侧是Python实现代码。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第四步是Bootstrap。因为原始数据高度右偏，传统的正态置信区间可能不准确。</a:t>
            </a:r>
          </a:p>
          <a:p>
            <a:r>
              <a:t>Bootstrap的核心思想很简单：把样本当作总体的替身，反复有放回地抽样，看看统计量怎么变化。</a:t>
            </a:r>
          </a:p>
          <a:p>
            <a:r>
              <a:t>我重抽样了5000次，得到95%置信区间是11182到17115。</a:t>
            </a:r>
          </a:p>
          <a:p>
            <a:r>
              <a:t>值得注意的是，即使原始数据严重右偏，Bootstrap均值的分布却近似正态——这直观地验证了中心极限定理。</a:t>
            </a:r>
          </a:p>
          <a:p>
            <a:r>
              <a:t>左侧是代码实现。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第五步是回归分析。我想回答一个实际问题：独立游戏开发者常常纠结的“降价换好评”策略是否可行？</a:t>
            </a:r>
          </a:p>
          <a:p>
            <a:r>
              <a:t>结果非常明确：R²只有0.001，p值0.556远大于0.05，价格对好评率没有显著影响。</a:t>
            </a:r>
          </a:p>
          <a:p>
            <a:r>
              <a:t>这说明玩家真正在意的是游戏品质，而不是便不便宜。这对开发者是个重要启示。</a:t>
            </a:r>
          </a:p>
          <a:p>
            <a:r>
              <a:t>左侧是用statsmodels做OLS回归的核心代码。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这是模拟数据的核心结果汇总。</a:t>
            </a:r>
          </a:p>
          <a:p>
            <a:r>
              <a:t>但我马上会抛出一个关键问题：模拟数据可靠吗？</a:t>
            </a:r>
          </a:p>
          <a:p>
            <a:r>
              <a:t>所以接下来进入真实数据验证环节，这是本项目的亮点。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现在进入真实数据验证。</a:t>
            </a:r>
          </a:p>
          <a:p>
            <a:r>
              <a:t>数据来源是GitHub上的公开仓库triesonyk/steam-games，原始有12万条记录，筛选出Indie标签后得到3471条。</a:t>
            </a:r>
          </a:p>
          <a:p>
            <a:r>
              <a:t>清洗过程包括用正则表达式提取评论数、把overall_reviews的文字描述映射为数值、处理多币种价格。</a:t>
            </a:r>
          </a:p>
          <a:p>
            <a:r>
              <a:t>右边是对比结果：真实数据的偏度高达12，远高于模拟的4，说明真实市场比我们模拟的更加极端。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这是MLE拟合的对比。</a:t>
            </a:r>
          </a:p>
          <a:p>
            <a:r>
              <a:t>左图是真实数据，右图是模拟数据。两者都显示对数正态拟合优于伽马分布。</a:t>
            </a:r>
          </a:p>
          <a:p>
            <a:r>
              <a:t>但真实数据的峰值更高更窄，右侧尾巴更长更厚——说明真实市场中冷门游戏比我们想象的更多，爆款效应也更极端。</a:t>
            </a:r>
          </a:p>
          <a:p>
            <a:r>
              <a:t>不过核心结论一致：对数正态分布能描述这个市场。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回归分析的对比。</a:t>
            </a:r>
          </a:p>
          <a:p>
            <a:r>
              <a:t>真实数据中p值变得显著了（0.0001），但R²仍然只有0.006，解释力极低。</a:t>
            </a:r>
          </a:p>
          <a:p>
            <a:r>
              <a:t>为什么p显著？因为样本量从500涨到了3471，统计功效大幅提高，即使微小效应也能检测出来。</a:t>
            </a:r>
          </a:p>
          <a:p>
            <a:r>
              <a:t>但R²不变说明：价格对好评率的影响即使有，也只解释了0.6%的变异， practically meaningless。</a:t>
            </a:r>
          </a:p>
          <a:p>
            <a:r>
              <a:t>所以核心结论完全一致：口碑由品质驱动，不是价格。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除了核心分析，还有一些有趣的拓展发现。</a:t>
            </a:r>
          </a:p>
          <a:p>
            <a:r>
              <a:t>比如相关性热力图显示所有变量之间的相关性都很弱，说明单一因素很难预测游戏成功。</a:t>
            </a:r>
          </a:p>
          <a:p>
            <a:r>
              <a:t>中文支持比例约65%，反映了中国市场的重要性。</a:t>
            </a:r>
          </a:p>
          <a:p>
            <a:r>
              <a:t>2021-2023年是发行高峰，可能和疫情期间的居家娱乐需求有关。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最后总结。</a:t>
            </a:r>
          </a:p>
          <a:p>
            <a:r>
              <a:t>三个问题全部回答：销量服从对数正态，MLE能定量描述，价格不影响口碑。</a:t>
            </a:r>
          </a:p>
          <a:p>
            <a:r>
              <a:t>给开发者的三条建议：预期管理、不低价竞争、用数据驱动决策。</a:t>
            </a:r>
          </a:p>
          <a:p>
            <a:r>
              <a:t>方法论上的贡献是双重验证设计：模拟数据验证方法正确性，真实数据验证结论稳健性。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以上就是我的全部分享，谢谢各位老师！欢迎提问。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</a:defRPr>
            </a:pPr>
            <a:r>
              <a:t>买断制独立游戏销量的</a:t>
            </a:r>
          </a:p>
          <a:p>
            <a:pPr>
              <a:spcAft>
                <a:spcPts val="600"/>
              </a:spcAft>
              <a:defRPr sz="3800" b="1">
                <a:solidFill>
                  <a:srgbClr val="FFFFFF"/>
                </a:solidFill>
              </a:defRPr>
            </a:pPr>
            <a:r>
              <a:t>统计分布特征与参数估计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DCDCDC"/>
                </a:solidFill>
              </a:defRPr>
            </a:pPr>
            <a:r>
              <a:t>概率统计课程项目 | 模拟数据 + 真实数据双重验证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【要解决什么？】研究背景与核心问题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• 现实背景：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独立游戏市场高度分化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少数“爆款” vs 大量“长尾”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• 三个核心问题：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① 销量服从何种分布？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② 如何用MLE定量刻画？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③ 定价是否影响口碑？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• 双重验证设计：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模拟数据（n=500）验证方法</a:t>
            </a:r>
          </a:p>
          <a:p>
            <a:pPr>
              <a:spcAft>
                <a:spcPts val="1200"/>
              </a:spcAft>
              <a:defRPr sz="1800" b="0">
                <a:solidFill>
                  <a:srgbClr val="000000"/>
                </a:solidFill>
              </a:defRPr>
            </a:pPr>
            <a:r>
              <a:t>   真实数据（n=3,471）验证结论</a:t>
            </a:r>
          </a:p>
        </p:txBody>
      </p:sp>
      <p:pic>
        <p:nvPicPr>
          <p:cNvPr id="4" name="Picture 3" descr="14_scatter_price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428011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【灵感来源】为什么会想到这些方法？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课程作业启发：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第六周：分布性质与模拟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第八周：相关性与可视化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第十一周：MLE vs 矩估计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第十二周：Bootstrap区间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经典文献指引：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Casella &amp; Berger《统计推断》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Efron &amp; Tibshirani《Bootstrap》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现实观察引导：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SteamSpy数据显示右偏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对数变换后呈钟形</a:t>
            </a:r>
          </a:p>
        </p:txBody>
      </p:sp>
      <p:pic>
        <p:nvPicPr>
          <p:cNvPr id="4" name="Picture 3" descr="12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97280"/>
            <a:ext cx="5486400" cy="31811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【技术路线】从数据到结论的完整流程</a:t>
            </a:r>
          </a:p>
        </p:txBody>
      </p:sp>
      <p:pic>
        <p:nvPicPr>
          <p:cNvPr id="3" name="Picture 2" descr="12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65214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【做了什么？】描述统计 + 核心代码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为什么先算描述统计？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Tukey EDA理念：先探索后建模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均值14003 &gt;&gt; 中位数1740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偏度=3.96，峰度=16.63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对数变换后接近正态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→ 强烈提示：对数正态分布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核心代码：描述统计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mean = np.mean(data)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median = np.median(data)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skew = stats.skew(data)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kurt = stats.kurtosis(data)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log_data = np.log(data)</a:t>
            </a:r>
          </a:p>
        </p:txBody>
      </p:sp>
      <p:pic>
        <p:nvPicPr>
          <p:cNvPr id="5" name="Picture 4" descr="01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20238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【做了什么？】MLE 最大似然估计 + 核心代码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为什么选择对数正态？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符合乘法生成机制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MLE有解析解，计算简便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μ定中心，σ定分化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MLE结果：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μ̂ = 7.6115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σ̂ = 2.1526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核心代码：MLE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log_data = np.log(data)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mu_mle = np.mean(log_data)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sigma_mle = np.std(log_data)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拟合密度曲线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pdf = stats.lognorm.pdf(x, s=sigma_mle,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scale=np.exp(mu_mle))</a:t>
            </a:r>
          </a:p>
        </p:txBody>
      </p:sp>
      <p:pic>
        <p:nvPicPr>
          <p:cNvPr id="5" name="Picture 4" descr="02_mle_fit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42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【做了什么？】K-S 检验 + Q-Q 图 + 核心代码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如何定量验证？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K-S检验：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H0：服从对数正态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D=0.0300, p=0.7483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→ p&gt;0.05，不能拒绝H0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Q-Q图：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样本分位数≈理论分位数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 紧贴45°参考线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核心代码：K-S检验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ks_stat, ks_p = stats.kstest(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data, "lognorm",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args=(sigma_mle, 0,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      np.exp(mu_mle))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Q-Q图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stats.probplot(data,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dist=stats.lognorm,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plot=ax)</a:t>
            </a:r>
          </a:p>
        </p:txBody>
      </p:sp>
      <p:pic>
        <p:nvPicPr>
          <p:cNvPr id="5" name="Picture 4" descr="03_qq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20266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【做了什么？】Bootstrap 自助法 + 核心代码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为什么不依赖正态假设？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原始数据高度右偏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传统CI可能失真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Bootstrap结果：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B=5000次重抽样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95% CI=[11182,17115]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→ Bootstrap均值分布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近似正态，验证CLT！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核心代码：Bootstrap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B = 5000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boot_means = []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for _ in range(B):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sample = np.random.choice(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    data, size=n,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    replace=True)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boot_means.append(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    np.mean(sample))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ci = np.percentile(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boot_means, [2.5,97.5])</a:t>
            </a:r>
          </a:p>
        </p:txBody>
      </p:sp>
      <p:pic>
        <p:nvPicPr>
          <p:cNvPr id="5" name="Picture 4" descr="04_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61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【做了什么？】一元线性回归 + 核心代码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研究问题：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降价能换好评吗？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模型与结果：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好评率 = 0.7911 +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0.0001×价格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R² = 0.001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p = 0.556 &gt; 0.05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结论：价格对好评率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无显著影响！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# 核心代码：OLS回归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import statsmodels.api as sm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X = sm.add_constant(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df["price_cny"])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model = sm.OLS(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    df["positive_rate"], X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).fit()</a:t>
            </a:r>
          </a:p>
          <a:p>
            <a:pPr>
              <a:spcAft>
                <a:spcPts val="1200"/>
              </a:spcAft>
              <a:defRPr sz="1400" b="0">
                <a:solidFill>
                  <a:srgbClr val="505050"/>
                </a:solidFill>
              </a:defRPr>
            </a:pPr>
            <a:r>
              <a:t>print(model.summary())</a:t>
            </a:r>
          </a:p>
        </p:txBody>
      </p:sp>
      <p:pic>
        <p:nvPicPr>
          <p:cNvPr id="5" name="Picture 4" descr="05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097280"/>
            <a:ext cx="5760720" cy="34265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【完成了什么？】模拟数据核心结果汇总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✅ 描述统计：偏度=3.96，峰度=16.63 → 显著右偏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✅ MLE估计：μ̂=7.61, σ̂=2.15 → 对数正态分布参数确定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✅ K-S检验：D=0.0300, p=0.7483 → 拟合良好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✅ Bootstrap：95% CI=[11182, 17115] → 稳健估计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✅ 回归分析：R²=0.001, p=0.556 → 价格不影响口碑</a:t>
            </a: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2000" b="0">
                <a:solidFill>
                  <a:srgbClr val="000000"/>
                </a:solidFill>
              </a:defRPr>
            </a:pPr>
            <a:r>
              <a:t>⚠️ 但问题来了：模拟数据可靠吗？需要真实数据验证！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【真实数据验证】GitHub公开数据集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数据来源：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GitHub: triesonyk/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steam-games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原始121,904条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筛选后3,471条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为什么做验证？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• 模拟数据结论需要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  真实世界检验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• 增强研究可信度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清洗方法：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• 正则提取评论数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• 映射overall_reviews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• 多币种价格数值化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0972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核心对比：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偏度：真实12.11 vs 模拟3.96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→ 真实市场更极端！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MLE μ：真实7.48 vs 模拟7.61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→ 参数设定非常准确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K-S p：真实0.058 vs 模拟0.748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→ 临界通过，拟合良好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回归R²：真实0.006 vs 模拟0.001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→ 结论完全一致！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【验证】MLE 拟合对比：真实 vs 模拟</a:t>
            </a:r>
          </a:p>
        </p:txBody>
      </p:sp>
      <p:pic>
        <p:nvPicPr>
          <p:cNvPr id="3" name="Picture 2" descr="02_real_m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33679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左图：真实数据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右图：模拟数据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共同点：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都严重右偏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对数正态拟合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均优于伽马分布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差异：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真实数据更极端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（更多长尾游戏）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峰值更高更窄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结论：模拟设定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方向正确，但真实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市场分化更严重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【验证】回归结论一致：价格≠口碑</a:t>
            </a:r>
          </a:p>
        </p:txBody>
      </p:sp>
      <p:pic>
        <p:nvPicPr>
          <p:cNvPr id="3" name="Picture 2" descr="05_real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05840"/>
            <a:ext cx="5669280" cy="3368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真实数据回归：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R² = 0.006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p = 0.0001（显著）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但解释力仍极低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模拟数据回归：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R² = 0.001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• p = 0.556（不显著）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为什么真实p显著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但R²仍低？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→ 样本量大（3471）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  容易检出微小效应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→ 多币种增加噪声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核心结论不变：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价格对口碑影响</a:t>
            </a:r>
          </a:p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</a:defRPr>
            </a:pPr>
            <a:r>
              <a:t>微乎其微！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【更多发现】数据中的有趣模式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相关性热力图：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单一变量难以预测成功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中文支持比例：约65%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中国市场受重视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发行高峰：2021-2023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疫情居家娱乐需求推动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• 价格与评论数：</a:t>
            </a:r>
          </a:p>
          <a:p>
            <a:pPr>
              <a:spcAft>
                <a:spcPts val="1200"/>
              </a:spcAft>
              <a:defRPr sz="1700" b="0">
                <a:solidFill>
                  <a:srgbClr val="000000"/>
                </a:solidFill>
              </a:defRPr>
            </a:pPr>
            <a:r>
              <a:t>   弱负相关，低价≠高销量</a:t>
            </a:r>
          </a:p>
        </p:txBody>
      </p:sp>
      <p:pic>
        <p:nvPicPr>
          <p:cNvPr id="4" name="Picture 3" descr="09_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914400"/>
            <a:ext cx="2743200" cy="2320967"/>
          </a:xfrm>
          <a:prstGeom prst="rect">
            <a:avLst/>
          </a:prstGeom>
        </p:spPr>
      </p:pic>
      <p:pic>
        <p:nvPicPr>
          <p:cNvPr id="5" name="Picture 4" descr="13_pie_chine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914400"/>
            <a:ext cx="2743200" cy="2814133"/>
          </a:xfrm>
          <a:prstGeom prst="rect">
            <a:avLst/>
          </a:prstGeom>
        </p:spPr>
      </p:pic>
      <p:pic>
        <p:nvPicPr>
          <p:cNvPr id="6" name="Picture 5" descr="10_bar_y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3657600"/>
            <a:ext cx="2743200" cy="1696407"/>
          </a:xfrm>
          <a:prstGeom prst="rect">
            <a:avLst/>
          </a:prstGeom>
        </p:spPr>
      </p:pic>
      <p:pic>
        <p:nvPicPr>
          <p:cNvPr id="7" name="Picture 6" descr="14_scatter_price_revi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3657600"/>
            <a:ext cx="2743200" cy="214005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003366"/>
                </a:solidFill>
              </a:defRPr>
            </a:pPr>
            <a:r>
              <a:t>【解决了什么？】结论与实践启示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✅ 解决了“销量服从什么分布”：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   评论数 ~ LogNormal，市场呈“长尾效应”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✅ 解决了“如何定量描述”：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   MLE估计 + K-S检验验证 + Bootstrap稳健推断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✅ 解决了“定价是否影响口碑”：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   价格对好评率无显著影响，开发者应专注品质打磨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💡 给开发者的三条建议：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① 做好“大部分游戏不会爆火”的预期管理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② 不必陷入低价竞争，合理定价即可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③ 用统计方法科学评估项目风险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🔬 方法论贡献：</a:t>
            </a:r>
          </a:p>
          <a:p>
            <a:pPr>
              <a:spcAft>
                <a:spcPts val="1200"/>
              </a:spcAft>
              <a:defRPr sz="1900" b="0">
                <a:solidFill>
                  <a:srgbClr val="000000"/>
                </a:solidFill>
              </a:defRPr>
            </a:pPr>
            <a:r>
              <a:t>   模拟数据验证方法 + 真实数据验证结论 = 双重保险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b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0">
                <a:solidFill>
                  <a:srgbClr val="FFFFFF"/>
                </a:solidFill>
              </a:defRPr>
            </a:pPr>
            <a:r>
              <a:t>谢谢聆听！</a:t>
            </a:r>
          </a:p>
          <a:p>
            <a:pPr>
              <a:spcAft>
                <a:spcPts val="800"/>
              </a:spcAft>
              <a:defRPr sz="3800" b="0">
                <a:solidFill>
                  <a:srgbClr val="FFFFFF"/>
                </a:solidFill>
              </a:defRPr>
            </a:pPr>
            <a:r>
              <a:t>欢迎老师提问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