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pp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800">
                <a:solidFill>
                  <a:srgbClr val="FFFFFF"/>
                </a:solidFill>
              </a:defRPr>
            </a:pPr>
            <a:r>
              <a:t>买断制独立游戏销量的</a:t>
            </a:r>
          </a:p>
          <a:p>
            <a:pPr>
              <a:spcAft>
                <a:spcPts val="600"/>
              </a:spcAft>
              <a:defRPr sz="3800">
                <a:solidFill>
                  <a:srgbClr val="FFFFFF"/>
                </a:solidFill>
              </a:defRPr>
            </a:pPr>
            <a:r>
              <a:t>统计分布特征与参数估计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DCDCDC"/>
                </a:solidFill>
              </a:defRPr>
            </a:pPr>
            <a:r>
              <a:t>概率统计课程项目 | 基于 MLE、Bootstrap 与回归分析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【要解决什么？】研究背景与核心问题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• 现实背景：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独立游戏市场高度分化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少数“爆款” vs 大量“长尾”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Steam 数据丰富但规律不明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• 三个核心问题：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① 销量服从何种分布？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② 如何用 MLE 定量刻画？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③ 定价是否影响口碑？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• 研究意义：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为开发者提供数据驱动的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市场预期与定价决策依据</a:t>
            </a:r>
          </a:p>
        </p:txBody>
      </p:sp>
      <p:pic>
        <p:nvPicPr>
          <p:cNvPr id="4" name="Picture 3" descr="14_scatter_price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42801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【灵感来源】为什么会想到这些方法？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课程作业启发：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第六周：分布性质与模拟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第八周：相关性与可视化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第十一周：MLE vs 矩估计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第十二周：Bootstrap 区间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经典文献指引：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Casella &amp; Berger《统计推断》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Efron &amp; Tibshirani《Bootstrap》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现实观察引导：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SteamSpy 数据显示右偏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对数变换后呈钟形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销量增长是多因素乘积效应</a:t>
            </a:r>
          </a:p>
        </p:txBody>
      </p:sp>
      <p:pic>
        <p:nvPicPr>
          <p:cNvPr id="4" name="Picture 3" descr="12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181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【技术路线】从数据到结论的完整流程</a:t>
            </a:r>
          </a:p>
        </p:txBody>
      </p:sp>
      <p:pic>
        <p:nvPicPr>
          <p:cNvPr id="3" name="Picture 2" descr="12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65214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【描述统计】发现右偏分布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为什么先画图？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Tukey EDA 理念：先探索后建模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均值 14,003 &gt;&gt; 中位数 1,740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偏度 = 3.96，峰度 = 16.63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对数变换后接近正态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→ 强烈提示：对数正态分布</a:t>
            </a:r>
          </a:p>
        </p:txBody>
      </p:sp>
      <p:pic>
        <p:nvPicPr>
          <p:cNvPr id="4" name="Picture 3" descr="01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2022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【MLE】对数正态分布的参数估计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为什么选择对数正态？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符合乘法生成机制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MLE 有解析解，计算简便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参数可解释：μ 定中心，σ 定分化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MLE 结果：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μ̂ = 7.6115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σ̂ = 2.1526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拟合效果优于伽马分布</a:t>
            </a:r>
          </a:p>
        </p:txBody>
      </p:sp>
      <p:pic>
        <p:nvPicPr>
          <p:cNvPr id="4" name="Picture 3" descr="02_mle_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3424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【检验验证】K-S 检验 + Q-Q 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如何定量验证？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K-S 检验：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H0：服从对数正态分布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D = 0.0300, p = 0.7483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→ p &gt; 0.05，不能拒绝 H0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Q-Q 图：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样本分位数 ≈ 理论分位数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数据点紧贴 45° 参考线</a:t>
            </a:r>
          </a:p>
        </p:txBody>
      </p:sp>
      <p:pic>
        <p:nvPicPr>
          <p:cNvPr id="4" name="Picture 3" descr="03_qq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2025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【Bootstrap】稳健的置信区间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为什么不依赖正态假设？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原始数据高度右偏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传统 CI 可能失真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Bootstrap 结果：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B = 5000 次重抽样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95% CI = [11182, 17115]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→ Bootstrap 均值分布近似正态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→ 直观验证中心极限定理！</a:t>
            </a:r>
          </a:p>
        </p:txBody>
      </p:sp>
      <p:pic>
        <p:nvPicPr>
          <p:cNvPr id="4" name="Picture 3" descr="04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3430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【回归分析】价格不影响口碑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为什么要做回归？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回答“降价换好评”是否可行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模型与结果：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好评率 = 0.7911 + 0.0001×价格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R² = 0.001（解释力极弱）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p = 0.556 &gt; 0.05（不显著）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结论：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→ 口碑由品质驱动，而非定价</a:t>
            </a:r>
          </a:p>
        </p:txBody>
      </p:sp>
      <p:pic>
        <p:nvPicPr>
          <p:cNvPr id="4" name="Picture 3" descr="05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3426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【更多发现】数据中的有趣模式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相关性热力图：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单一变量难以预测成功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中文支持比例：约 65%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中国市场受重视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发行高峰：2021-2023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疫情居家娱乐需求推动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价格与评论数：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弱负相关，低价≠高销量</a:t>
            </a:r>
          </a:p>
        </p:txBody>
      </p:sp>
      <p:pic>
        <p:nvPicPr>
          <p:cNvPr id="4" name="Picture 3" descr="09_heatmap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914400"/>
            <a:ext cx="2743200" cy="2320967"/>
          </a:xfrm>
          <a:prstGeom prst="rect">
            <a:avLst/>
          </a:prstGeom>
        </p:spPr>
      </p:pic>
      <p:pic>
        <p:nvPicPr>
          <p:cNvPr id="5" name="Picture 4" descr="13_pie_chine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914400"/>
            <a:ext cx="2743200" cy="2814133"/>
          </a:xfrm>
          <a:prstGeom prst="rect">
            <a:avLst/>
          </a:prstGeom>
        </p:spPr>
      </p:pic>
      <p:pic>
        <p:nvPicPr>
          <p:cNvPr id="6" name="Picture 5" descr="10_bar_y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657600"/>
            <a:ext cx="2743200" cy="1696407"/>
          </a:xfrm>
          <a:prstGeom prst="rect">
            <a:avLst/>
          </a:prstGeom>
        </p:spPr>
      </p:pic>
      <p:pic>
        <p:nvPicPr>
          <p:cNvPr id="7" name="Picture 6" descr="14_scatter_price_revie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657600"/>
            <a:ext cx="2743200" cy="21400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【深入验证】经验CDF vs 理论CDF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另一种验证方式：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红色 = 观测数据的经验CDF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• 蓝色虚线 = 理论对数正态CDF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两条曲线几乎重合！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→ 从累积概率角度再次验证</a:t>
            </a:r>
          </a:p>
          <a:p>
            <a:pPr>
              <a:spcAft>
                <a:spcPts val="1400"/>
              </a:spcAft>
              <a:defRPr sz="1700">
                <a:solidFill>
                  <a:srgbClr val="000000"/>
                </a:solidFill>
              </a:defRPr>
            </a:pPr>
            <a:r>
              <a:t>   对数正态假设的合理性</a:t>
            </a:r>
          </a:p>
        </p:txBody>
      </p:sp>
      <p:pic>
        <p:nvPicPr>
          <p:cNvPr id="4" name="Picture 3" descr="11_cdf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35688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【解决了什么？】结论与实践启示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✅ 解决了“销量服从什么分布”：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      评论数 ~ LogNormal(7.61, 2.15²)，市场呈“长尾效应”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✅ 解决了“如何定量描述”：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      MLE 估计 + K-S 检验验证 + Bootstrap 稳健推断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✅ 解决了“定价是否影响口碑”：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      价格对好评率无显著影响，开发者应专注品质打磨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💡 给开发者的三条建议：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   ① 做好“大部分游戏不会爆火”的预期管理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   ② 不必陷入低价竞争，合理定价即可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   ③ 用统计方法科学评估项目风险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pp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800">
                <a:solidFill>
                  <a:srgbClr val="FFFFFF"/>
                </a:solidFill>
              </a:defRPr>
            </a:pPr>
            <a:r>
              <a:t>谢谢聆听！</a:t>
            </a:r>
          </a:p>
          <a:p>
            <a:pPr>
              <a:spcAft>
                <a:spcPts val="800"/>
              </a:spcAft>
              <a:defRPr sz="3800">
                <a:solidFill>
                  <a:srgbClr val="FFFFFF"/>
                </a:solidFill>
              </a:defRPr>
            </a:pPr>
            <a:r>
              <a:t>欢迎老师提问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