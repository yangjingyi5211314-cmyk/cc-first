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买断制独立游戏销量的统计分布特征与参数估计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基于 MLE、Bootstrap 与回归分析的概率统计课程项目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研究背景与核心问题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独立游戏市场蓬勃发展，但高度分化</a:t>
            </a:r>
          </a:p>
          <a:p>
            <a:pPr>
              <a:spcAft>
                <a:spcPts val="1200"/>
              </a:spcAft>
              <a:defRPr sz="1800"/>
            </a:pPr>
            <a:r>
              <a:t>• 少数"爆款" vs 大量"长尾"作品</a:t>
            </a:r>
          </a:p>
          <a:p>
            <a:pPr>
              <a:spcAft>
                <a:spcPts val="1200"/>
              </a:spcAft>
              <a:defRPr sz="1800"/>
            </a:pPr>
            <a:r>
              <a:t>• 核心问题：</a:t>
            </a:r>
          </a:p>
          <a:p>
            <a:pPr>
              <a:spcAft>
                <a:spcPts val="1200"/>
              </a:spcAft>
              <a:defRPr sz="1800"/>
            </a:pPr>
            <a:r>
              <a:t>   1. 独立游戏销量服从什么分布？</a:t>
            </a:r>
          </a:p>
          <a:p>
            <a:pPr>
              <a:spcAft>
                <a:spcPts val="1200"/>
              </a:spcAft>
              <a:defRPr sz="1800"/>
            </a:pPr>
            <a:r>
              <a:t>   2. 如何用 MLE 估计分布参数？</a:t>
            </a:r>
          </a:p>
          <a:p>
            <a:pPr>
              <a:spcAft>
                <a:spcPts val="1200"/>
              </a:spcAft>
              <a:defRPr sz="1800"/>
            </a:pPr>
            <a:r>
              <a:t>   3. 游戏价格是否影响用户好评率？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数据来源与变量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样本量：n = 500 款买断制独立游戏（模拟数据集）</a:t>
            </a:r>
          </a:p>
          <a:p>
            <a:pPr>
              <a:spcAft>
                <a:spcPts val="1200"/>
              </a:spcAft>
              <a:defRPr sz="1800"/>
            </a:pPr>
            <a:r>
              <a:t>• 核心变量：review_count（评论数）→ 销量代理指标</a:t>
            </a:r>
          </a:p>
          <a:p>
            <a:pPr>
              <a:spcAft>
                <a:spcPts val="1200"/>
              </a:spcAft>
              <a:defRPr sz="1800"/>
            </a:pPr>
            <a:r>
              <a:t>• 其他变量：价格、游戏时长、好评率、中文支持、标签数、发行年份</a:t>
            </a:r>
          </a:p>
          <a:p>
            <a:pPr>
              <a:spcAft>
                <a:spcPts val="1200"/>
              </a:spcAft>
              <a:defRPr sz="1800"/>
            </a:pPr>
            <a:r>
              <a:t>• 选择理由：Steam 不公开销量，但评论数与销量比例稳定（约 1:30 ~ 1:50）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描述统计：评论数呈显著右偏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均值 = 14003.26  &gt;&gt;  中位数 = 1740.50</a:t>
            </a:r>
          </a:p>
          <a:p>
            <a:pPr>
              <a:spcAft>
                <a:spcPts val="1200"/>
              </a:spcAft>
              <a:defRPr sz="1800"/>
            </a:pPr>
            <a:r>
              <a:t>• 偏度 (Skewness) = 3.96  &gt; 0，显著右偏</a:t>
            </a:r>
          </a:p>
          <a:p>
            <a:pPr>
              <a:spcAft>
                <a:spcPts val="1200"/>
              </a:spcAft>
              <a:defRPr sz="1800"/>
            </a:pPr>
            <a:r>
              <a:t>• 峰度 (Kurtosis) = 16.63，尖峰厚尾</a:t>
            </a:r>
          </a:p>
          <a:p>
            <a:pPr>
              <a:spcAft>
                <a:spcPts val="1200"/>
              </a:spcAft>
              <a:defRPr sz="1800"/>
            </a:pPr>
            <a:r>
              <a:t>• 对数变换后接近正态分布 → 暗示对数正态分布</a:t>
            </a:r>
          </a:p>
        </p:txBody>
      </p:sp>
      <p:pic>
        <p:nvPicPr>
          <p:cNvPr id="4" name="Picture 3" descr="01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486400" cy="19265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MLE 参数估计：对数正态分布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假设：X ~ LogNormal(μ, σ²)，ln(X) ~ N(μ, σ²)</a:t>
            </a:r>
          </a:p>
          <a:p>
            <a:pPr>
              <a:spcAft>
                <a:spcPts val="1200"/>
              </a:spcAft>
              <a:defRPr sz="1800"/>
            </a:pPr>
            <a:r>
              <a:t>• MLE 解析解：</a:t>
            </a:r>
          </a:p>
          <a:p>
            <a:pPr>
              <a:spcAft>
                <a:spcPts val="1200"/>
              </a:spcAft>
              <a:defRPr sz="1800"/>
            </a:pPr>
            <a:r>
              <a:t>   μ̂ = (1/n)Σln(xi) = 7.61</a:t>
            </a:r>
          </a:p>
          <a:p>
            <a:pPr>
              <a:spcAft>
                <a:spcPts val="1200"/>
              </a:spcAft>
              <a:defRPr sz="1800"/>
            </a:pPr>
            <a:r>
              <a:t>   σ̂ = 2.15</a:t>
            </a:r>
          </a:p>
          <a:p>
            <a:pPr>
              <a:spcAft>
                <a:spcPts val="1200"/>
              </a:spcAft>
              <a:defRPr sz="1800"/>
            </a:pPr>
            <a:r>
              <a:t>• 拟合效果：对数正态分布 &gt; 伽马分布</a:t>
            </a:r>
          </a:p>
          <a:p>
            <a:pPr>
              <a:spcAft>
                <a:spcPts val="1200"/>
              </a:spcAft>
              <a:defRPr sz="1800"/>
            </a:pPr>
            <a:r>
              <a:t>• 优点：大样本下具有一致性、有效性（达到 CR 下界）</a:t>
            </a:r>
          </a:p>
        </p:txBody>
      </p:sp>
      <p:pic>
        <p:nvPicPr>
          <p:cNvPr id="4" name="Picture 3" descr="02_mle_fit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486400" cy="32611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拟合优度检验：K-S 检验 + Q-Q 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H0：数据服从对数正态分布</a:t>
            </a:r>
          </a:p>
          <a:p>
            <a:pPr>
              <a:spcAft>
                <a:spcPts val="1200"/>
              </a:spcAft>
              <a:defRPr sz="1800"/>
            </a:pPr>
            <a:r>
              <a:t>• H1：数据不服从对数正态分布</a:t>
            </a:r>
          </a:p>
          <a:p>
            <a:pPr>
              <a:spcAft>
                <a:spcPts val="1200"/>
              </a:spcAft>
              <a:defRPr sz="1800"/>
            </a:pPr>
            <a:r>
              <a:t>• K-S 统计量 = 0.0300，p-value = 0.7483</a:t>
            </a:r>
          </a:p>
          <a:p>
            <a:pPr>
              <a:spcAft>
                <a:spcPts val="1200"/>
              </a:spcAft>
              <a:defRPr sz="1800"/>
            </a:pPr>
            <a:r>
              <a:t>• 结论：p &gt; 0.05，不能拒绝 H0，拟合良好</a:t>
            </a:r>
          </a:p>
          <a:p>
            <a:pPr>
              <a:spcAft>
                <a:spcPts val="1200"/>
              </a:spcAft>
              <a:defRPr sz="1800"/>
            </a:pPr>
            <a:r>
              <a:t>• Q-Q 图：样本分位数与理论分位数基本落在参考线上</a:t>
            </a:r>
          </a:p>
        </p:txBody>
      </p:sp>
      <p:pic>
        <p:nvPicPr>
          <p:cNvPr id="4" name="Picture 3" descr="03_qq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486400" cy="19287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Bootstrap 自助法：稳健区间估计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传统方法依赖正态假设，对偏态分布不准确</a:t>
            </a:r>
          </a:p>
          <a:p>
            <a:pPr>
              <a:spcAft>
                <a:spcPts val="1200"/>
              </a:spcAft>
              <a:defRPr sz="1800"/>
            </a:pPr>
            <a:r>
              <a:t>• Bootstrap：有放回重抽样 B = 5000 次</a:t>
            </a:r>
          </a:p>
          <a:p>
            <a:pPr>
              <a:spcAft>
                <a:spcPts val="1200"/>
              </a:spcAft>
              <a:defRPr sz="1800"/>
            </a:pPr>
            <a:r>
              <a:t>• 百分位数法 95% CI: [11182, 17115]</a:t>
            </a:r>
          </a:p>
          <a:p>
            <a:pPr>
              <a:spcAft>
                <a:spcPts val="1200"/>
              </a:spcAft>
              <a:defRPr sz="1800"/>
            </a:pPr>
            <a:r>
              <a:t>• 正态近似 95% CI: [11033, 16974]</a:t>
            </a:r>
          </a:p>
          <a:p>
            <a:pPr>
              <a:spcAft>
                <a:spcPts val="1200"/>
              </a:spcAft>
              <a:defRPr sz="1800"/>
            </a:pPr>
            <a:r>
              <a:t>• Bootstrap 均值分布近似正态 → 验证中心极限定理（CLT）</a:t>
            </a:r>
          </a:p>
        </p:txBody>
      </p:sp>
      <p:pic>
        <p:nvPicPr>
          <p:cNvPr id="4" name="Picture 3" descr="04_bootst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486400" cy="32674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拓展分析：价格对好评率的影响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模型：好评率 = β0 + β1 × 价格 + ε</a:t>
            </a:r>
          </a:p>
          <a:p>
            <a:pPr>
              <a:spcAft>
                <a:spcPts val="1200"/>
              </a:spcAft>
              <a:defRPr sz="1800"/>
            </a:pPr>
            <a:r>
              <a:t>• OLS 估计：好评率 = 0.7911 + 0.000100 × 价格</a:t>
            </a:r>
          </a:p>
          <a:p>
            <a:pPr>
              <a:spcAft>
                <a:spcPts val="1200"/>
              </a:spcAft>
              <a:defRPr sz="1800"/>
            </a:pPr>
            <a:r>
              <a:t>• R² = 0.001，解释力极弱</a:t>
            </a:r>
          </a:p>
          <a:p>
            <a:pPr>
              <a:spcAft>
                <a:spcPts val="1200"/>
              </a:spcAft>
              <a:defRPr sz="1800"/>
            </a:pPr>
            <a:r>
              <a:t>• 价格系数 p-value = 0.556 &gt; 0.05，无显著影响</a:t>
            </a:r>
          </a:p>
          <a:p>
            <a:pPr>
              <a:spcAft>
                <a:spcPts val="1200"/>
              </a:spcAft>
              <a:defRPr sz="1800"/>
            </a:pPr>
            <a:r>
              <a:t>• 结论：玩家更在意游戏品质，而非价格</a:t>
            </a:r>
          </a:p>
        </p:txBody>
      </p:sp>
      <p:pic>
        <p:nvPicPr>
          <p:cNvPr id="4" name="Picture 3" descr="05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486400" cy="32633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主要结论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1. 独立游戏评论数服从对数正态分布，市场呈"长尾效应"</a:t>
            </a:r>
          </a:p>
          <a:p>
            <a:pPr>
              <a:spcAft>
                <a:spcPts val="1200"/>
              </a:spcAft>
              <a:defRPr sz="1800"/>
            </a:pPr>
            <a:r>
              <a:t>2. MLE 能有效估计分布参数，K-S 检验验证拟合良好</a:t>
            </a:r>
          </a:p>
          <a:p>
            <a:pPr>
              <a:spcAft>
                <a:spcPts val="1200"/>
              </a:spcAft>
              <a:defRPr sz="1800"/>
            </a:pPr>
            <a:r>
              <a:t>3. Bootstrap 提供稳健的置信区间估计</a:t>
            </a:r>
          </a:p>
          <a:p>
            <a:pPr>
              <a:spcAft>
                <a:spcPts val="1200"/>
              </a:spcAft>
              <a:defRPr sz="1800"/>
            </a:pPr>
            <a:r>
              <a:t>4. 价格对好评率无显著影响，口碑由品质驱动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对开发者的启示：</a:t>
            </a:r>
          </a:p>
          <a:p>
            <a:pPr>
              <a:spcAft>
                <a:spcPts val="1200"/>
              </a:spcAft>
              <a:defRPr sz="1800"/>
            </a:pPr>
            <a:r>
              <a:t>• 做好"大部分游戏不会爆火"的市场预期</a:t>
            </a:r>
          </a:p>
          <a:p>
            <a:pPr>
              <a:spcAft>
                <a:spcPts val="1200"/>
              </a:spcAft>
              <a:defRPr sz="1800"/>
            </a:pPr>
            <a:r>
              <a:t>• 不必过度担心定价影响口碑，专注打磨品质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谢谢聆听！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欢迎老师提问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