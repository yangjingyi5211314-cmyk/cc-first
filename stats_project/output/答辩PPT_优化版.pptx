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/>
            </a:pPr>
            <a:r>
              <a:t>买断制独立游戏销量的</a:t>
            </a:r>
          </a:p>
          <a:p>
            <a:pPr>
              <a:spcAft>
                <a:spcPts val="800"/>
              </a:spcAft>
              <a:defRPr sz="3600"/>
            </a:pPr>
            <a:r>
              <a:t>统计分布特征与参数估计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概率统计课程项目 | 基于 MLE、Bootstrap 与回归分析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【要解决什么？】研究背景与核心问题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现实背景：</a:t>
            </a:r>
          </a:p>
          <a:p>
            <a:pPr>
              <a:spcAft>
                <a:spcPts val="1400"/>
              </a:spcAft>
              <a:defRPr sz="2000"/>
            </a:pPr>
            <a:r>
              <a:t>   独立游戏市场高度分化，少数“爆款” vs 大量“长尾”</a:t>
            </a:r>
          </a:p>
          <a:p>
            <a:pPr>
              <a:spcAft>
                <a:spcPts val="1400"/>
              </a:spcAft>
              <a:defRPr sz="2000"/>
            </a:pPr>
            <a:r>
              <a:t>   Steam 平台数据丰富，但销量分布规律尚缺乏定量刻画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• 三个核心问题：</a:t>
            </a:r>
          </a:p>
          <a:p>
            <a:pPr>
              <a:spcAft>
                <a:spcPts val="1400"/>
              </a:spcAft>
              <a:defRPr sz="2000"/>
            </a:pPr>
            <a:r>
              <a:t>   ① 独立游戏销量服从何种概率分布？</a:t>
            </a:r>
          </a:p>
          <a:p>
            <a:pPr>
              <a:spcAft>
                <a:spcPts val="1400"/>
              </a:spcAft>
              <a:defRPr sz="2000"/>
            </a:pPr>
            <a:r>
              <a:t>   ② 如何用 MLE 等参数估计方法定量描述该分布？</a:t>
            </a:r>
          </a:p>
          <a:p>
            <a:pPr>
              <a:spcAft>
                <a:spcPts val="1400"/>
              </a:spcAft>
              <a:defRPr sz="2000"/>
            </a:pPr>
            <a:r>
              <a:t>   ③ 游戏定价策略是否显著影响用户好评率？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• 研究意义：</a:t>
            </a:r>
          </a:p>
          <a:p>
            <a:pPr>
              <a:spcAft>
                <a:spcPts val="1400"/>
              </a:spcAft>
              <a:defRPr sz="2000"/>
            </a:pPr>
            <a:r>
              <a:t>   为独立游戏开发者提供数据驱动的市场预期与定价决策依据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【做了什么？】技术路线与分析方法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① 描述统计</a:t>
            </a:r>
          </a:p>
          <a:p>
            <a:pPr>
              <a:spcAft>
                <a:spcPts val="1400"/>
              </a:spcAft>
              <a:defRPr sz="1800"/>
            </a:pPr>
            <a:r>
              <a:t>   均值、中位数、偏度、峰度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② MLE 最大似然估计</a:t>
            </a:r>
          </a:p>
          <a:p>
            <a:pPr>
              <a:spcAft>
                <a:spcPts val="1400"/>
              </a:spcAft>
              <a:defRPr sz="1800"/>
            </a:pPr>
            <a:r>
              <a:t>   假设对数正态分布，估计 μ 与 σ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③ K-S 拟合优度检验</a:t>
            </a:r>
          </a:p>
          <a:p>
            <a:pPr>
              <a:spcAft>
                <a:spcPts val="1400"/>
              </a:spcAft>
              <a:defRPr sz="1800"/>
            </a:pPr>
            <a:r>
              <a:t>   定量验证分布假设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④ Q-Q 图</a:t>
            </a:r>
          </a:p>
          <a:p>
            <a:pPr>
              <a:spcAft>
                <a:spcPts val="1400"/>
              </a:spcAft>
              <a:defRPr sz="1800"/>
            </a:pPr>
            <a:r>
              <a:t>   图形化验证拟合效果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⑤ Bootstrap 自助法</a:t>
            </a:r>
          </a:p>
          <a:p>
            <a:pPr>
              <a:spcAft>
                <a:spcPts val="1400"/>
              </a:spcAft>
              <a:defRPr sz="1800"/>
            </a:pPr>
            <a:r>
              <a:t>   构建稳健的 95% 置信区间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⑥ 一元线性回归（OLS）</a:t>
            </a:r>
          </a:p>
          <a:p>
            <a:pPr>
              <a:spcAft>
                <a:spcPts val="1400"/>
              </a:spcAft>
              <a:defRPr sz="1800"/>
            </a:pPr>
            <a:r>
              <a:t>   价格 → 好评率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数据来源：</a:t>
            </a:r>
          </a:p>
          <a:p>
            <a:pPr>
              <a:spcAft>
                <a:spcPts val="1400"/>
              </a:spcAft>
              <a:defRPr sz="1800"/>
            </a:pPr>
            <a:r>
              <a:t>   n=500 模拟样本</a:t>
            </a:r>
          </a:p>
          <a:p>
            <a:pPr>
              <a:spcAft>
                <a:spcPts val="1400"/>
              </a:spcAft>
              <a:defRPr sz="1800"/>
            </a:pPr>
            <a:r>
              <a:t>   基于 Steam 真实统计特征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【做了什么？】描述统计：发现右偏分布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均值 14,003 &gt;&gt; 中位数 1,740</a:t>
            </a:r>
          </a:p>
          <a:p>
            <a:pPr>
              <a:spcAft>
                <a:spcPts val="1400"/>
              </a:spcAft>
              <a:defRPr sz="1800"/>
            </a:pPr>
            <a:r>
              <a:t>• 偏度 = 3.96（显著右偏）</a:t>
            </a:r>
          </a:p>
          <a:p>
            <a:pPr>
              <a:spcAft>
                <a:spcPts val="1400"/>
              </a:spcAft>
              <a:defRPr sz="1800"/>
            </a:pPr>
            <a:r>
              <a:t>• 峰度 = 16.63（尖峰厚尾）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→ 对数变换后接近正态</a:t>
            </a:r>
          </a:p>
          <a:p>
            <a:pPr>
              <a:spcAft>
                <a:spcPts val="1400"/>
              </a:spcAft>
              <a:defRPr sz="1800"/>
            </a:pPr>
            <a:r>
              <a:t>→ 提示：原数据可能服从对数正态分布</a:t>
            </a:r>
          </a:p>
        </p:txBody>
      </p:sp>
      <p:pic>
        <p:nvPicPr>
          <p:cNvPr id="4" name="Picture 3" descr="0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202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【做了什么？】MLE：对数正态分布的参数估计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假设：X ~ LogNormal(μ, σ²)</a:t>
            </a:r>
          </a:p>
          <a:p>
            <a:pPr>
              <a:spcAft>
                <a:spcPts val="1400"/>
              </a:spcAft>
              <a:defRPr sz="1800"/>
            </a:pPr>
            <a:r>
              <a:t>即 ln(X) ~ N(μ, σ²)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MLE 解析解：</a:t>
            </a:r>
          </a:p>
          <a:p>
            <a:pPr>
              <a:spcAft>
                <a:spcPts val="1400"/>
              </a:spcAft>
              <a:defRPr sz="1800"/>
            </a:pPr>
            <a:r>
              <a:t>   μ̂ = 7.6115</a:t>
            </a:r>
          </a:p>
          <a:p>
            <a:pPr>
              <a:spcAft>
                <a:spcPts val="1400"/>
              </a:spcAft>
              <a:defRPr sz="1800"/>
            </a:pPr>
            <a:r>
              <a:t>   σ̂ = 2.1526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→ 对数正态拟合效果优于伽马分布</a:t>
            </a:r>
          </a:p>
        </p:txBody>
      </p:sp>
      <p:pic>
        <p:nvPicPr>
          <p:cNvPr id="4" name="Picture 3" descr="02_mle_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4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【做了什么？】K-S 检验与 Q-Q 图验证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K-S 检验：</a:t>
            </a:r>
          </a:p>
          <a:p>
            <a:pPr>
              <a:spcAft>
                <a:spcPts val="1400"/>
              </a:spcAft>
              <a:defRPr sz="1800"/>
            </a:pPr>
            <a:r>
              <a:t>   H0：数据服从对数正态分布</a:t>
            </a:r>
          </a:p>
          <a:p>
            <a:pPr>
              <a:spcAft>
                <a:spcPts val="1400"/>
              </a:spcAft>
              <a:defRPr sz="1800"/>
            </a:pPr>
            <a:r>
              <a:t>   H1：数据不服从对数正态分布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结果：</a:t>
            </a:r>
          </a:p>
          <a:p>
            <a:pPr>
              <a:spcAft>
                <a:spcPts val="1400"/>
              </a:spcAft>
              <a:defRPr sz="1800"/>
            </a:pPr>
            <a:r>
              <a:t>   K-S 统计量 D = 0.0300</a:t>
            </a:r>
          </a:p>
          <a:p>
            <a:pPr>
              <a:spcAft>
                <a:spcPts val="1400"/>
              </a:spcAft>
              <a:defRPr sz="1800"/>
            </a:pPr>
            <a:r>
              <a:t>   p-value = 0.7483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结论：p &gt; 0.05，不能拒绝 H0</a:t>
            </a:r>
          </a:p>
          <a:p>
            <a:pPr>
              <a:spcAft>
                <a:spcPts val="1400"/>
              </a:spcAft>
              <a:defRPr sz="1800"/>
            </a:pPr>
            <a:r>
              <a:t>→ 对数正态假设通过统计检验</a:t>
            </a:r>
          </a:p>
        </p:txBody>
      </p:sp>
      <p:pic>
        <p:nvPicPr>
          <p:cNvPr id="4" name="Picture 3" descr="03_qq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2025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【完成了什么？】Bootstrap 稳健置信区间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问题：原始数据右偏，传统正态</a:t>
            </a:r>
          </a:p>
          <a:p>
            <a:pPr>
              <a:spcAft>
                <a:spcPts val="1400"/>
              </a:spcAft>
              <a:defRPr sz="1800"/>
            </a:pPr>
            <a:r>
              <a:t>      置信区间可能失真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方法：Bootstrap 自助法</a:t>
            </a:r>
          </a:p>
          <a:p>
            <a:pPr>
              <a:spcAft>
                <a:spcPts val="1400"/>
              </a:spcAft>
              <a:defRPr sz="1800"/>
            </a:pPr>
            <a:r>
              <a:t>   有放回重抽样 B = 5000 次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结果：95% CI = [11182, 17115]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→ 即使原数据偏态，Bootstrap 均值</a:t>
            </a:r>
          </a:p>
          <a:p>
            <a:pPr>
              <a:spcAft>
                <a:spcPts val="1400"/>
              </a:spcAft>
              <a:defRPr sz="1800"/>
            </a:pPr>
            <a:r>
              <a:t>   分布仍近似正态（验证 CLT）</a:t>
            </a:r>
          </a:p>
        </p:txBody>
      </p:sp>
      <p:pic>
        <p:nvPicPr>
          <p:cNvPr id="4" name="Picture 3" descr="04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30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【完成了什么？】回归分析：价格不影响口碑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模型：好评率 = β₀ + β₁ × 价格 + ε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结果：</a:t>
            </a:r>
          </a:p>
          <a:p>
            <a:pPr>
              <a:spcAft>
                <a:spcPts val="1400"/>
              </a:spcAft>
              <a:defRPr sz="1800"/>
            </a:pPr>
            <a:r>
              <a:t>   回归方程：好评率 = 0.7911</a:t>
            </a:r>
          </a:p>
          <a:p>
            <a:pPr>
              <a:spcAft>
                <a:spcPts val="1400"/>
              </a:spcAft>
              <a:defRPr sz="1800"/>
            </a:pPr>
            <a:r>
              <a:t>            + 0.000100 × 价格</a:t>
            </a:r>
          </a:p>
          <a:p>
            <a:pPr>
              <a:spcAft>
                <a:spcPts val="1400"/>
              </a:spcAft>
              <a:defRPr sz="1800"/>
            </a:pPr>
            <a:r>
              <a:t>   R² = 0.001</a:t>
            </a:r>
          </a:p>
          <a:p>
            <a:pPr>
              <a:spcAft>
                <a:spcPts val="1400"/>
              </a:spcAft>
              <a:defRPr sz="1800"/>
            </a:pPr>
            <a:r>
              <a:t>   p-value = 0.556 &gt; 0.05</a:t>
            </a:r>
          </a:p>
          <a:p>
            <a:pPr>
              <a:spcAft>
                <a:spcPts val="1400"/>
              </a:spcAft>
              <a:defRPr sz="1800"/>
            </a:pPr>
          </a:p>
          <a:p>
            <a:pPr>
              <a:spcAft>
                <a:spcPts val="1400"/>
              </a:spcAft>
              <a:defRPr sz="1800"/>
            </a:pPr>
            <a:r>
              <a:t>结论：价格对好评率无显著影响</a:t>
            </a:r>
          </a:p>
          <a:p>
            <a:pPr>
              <a:spcAft>
                <a:spcPts val="1400"/>
              </a:spcAft>
              <a:defRPr sz="1800"/>
            </a:pPr>
            <a:r>
              <a:t>→ 口碑由品质驱动，而非定价</a:t>
            </a:r>
          </a:p>
        </p:txBody>
      </p:sp>
      <p:pic>
        <p:nvPicPr>
          <p:cNvPr id="4" name="Picture 3" descr="05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6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【解决了什么？】结论与实践启示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✅ 解决了“销量服从什么分布”的问题：</a:t>
            </a:r>
          </a:p>
          <a:p>
            <a:pPr>
              <a:spcAft>
                <a:spcPts val="1400"/>
              </a:spcAft>
              <a:defRPr sz="2000"/>
            </a:pPr>
            <a:r>
              <a:t>      评论数服从对数正态分布，市场呈“长尾效应”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✅ 解决了“如何定量描述”的问题：</a:t>
            </a:r>
          </a:p>
          <a:p>
            <a:pPr>
              <a:spcAft>
                <a:spcPts val="1400"/>
              </a:spcAft>
              <a:defRPr sz="2000"/>
            </a:pPr>
            <a:r>
              <a:t>      MLE 估计参数 μ̂=7.61, σ̂=2.15，K-S 检验验证拟合良好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✅ 解决了“定价是否影响口碑”的问题：</a:t>
            </a:r>
          </a:p>
          <a:p>
            <a:pPr>
              <a:spcAft>
                <a:spcPts val="1400"/>
              </a:spcAft>
              <a:defRPr sz="2000"/>
            </a:pPr>
            <a:r>
              <a:t>      价格对好评率无显著影响，开发者应专注品质打磨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💡 实践启示：</a:t>
            </a:r>
          </a:p>
          <a:p>
            <a:pPr>
              <a:spcAft>
                <a:spcPts val="1400"/>
              </a:spcAft>
              <a:defRPr sz="2000"/>
            </a:pPr>
            <a:r>
              <a:t>   • 做好“大部分游戏不会爆火”的市场预期</a:t>
            </a:r>
          </a:p>
          <a:p>
            <a:pPr>
              <a:spcAft>
                <a:spcPts val="1400"/>
              </a:spcAft>
              <a:defRPr sz="2000"/>
            </a:pPr>
            <a:r>
              <a:t>   • 不必过度担心定价影响口碑</a:t>
            </a:r>
          </a:p>
          <a:p>
            <a:pPr>
              <a:spcAft>
                <a:spcPts val="1400"/>
              </a:spcAft>
              <a:defRPr sz="2000"/>
            </a:pPr>
            <a:r>
              <a:t>   • 用统计方法科学评估项目风险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谢谢聆听！</a:t>
            </a:r>
          </a:p>
          <a:p>
            <a:pPr>
              <a:spcAft>
                <a:spcPts val="1400"/>
              </a:spcAft>
              <a:defRPr sz="3600"/>
            </a:pPr>
            <a:r>
              <a:t>欢迎老师提问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